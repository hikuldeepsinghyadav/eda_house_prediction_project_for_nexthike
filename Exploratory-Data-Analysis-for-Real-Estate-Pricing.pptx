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
  </p:notesMasterIdLst>
  <p:sldIdLst>
    <p:sldId id="266" r:id="rId3"/>
    <p:sldId id="256" r:id="rId4"/>
    <p:sldId id="257" r:id="rId6"/>
    <p:sldId id="258" r:id="rId7"/>
    <p:sldId id="259" r:id="rId8"/>
    <p:sldId id="260" r:id="rId9"/>
    <p:sldId id="261" r:id="rId10"/>
    <p:sldId id="262" r:id="rId11"/>
    <p:sldId id="263" r:id="rId12"/>
    <p:sldId id="264" r:id="rId13"/>
    <p:sldId id="265" r:id="rId14"/>
    <p:sldId id="279" r:id="rId15"/>
    <p:sldId id="267" r:id="rId16"/>
  </p:sldIdLst>
  <p:sldSz cx="14630400" cy="8229600"/>
  <p:notesSz cx="8229600" cy="14630400"/>
  <p:embeddedFontLst>
    <p:embeddedFont>
      <p:font typeface="SimSun" panose="02010600030101010101" pitchFamily="2" charset="-122"/>
      <p:regular r:id="rId20"/>
    </p:embeddedFont>
    <p:embeddedFont>
      <p:font typeface="Red Hat Text" panose="02010303040201060303" pitchFamily="34" charset="0"/>
      <p:bold r:id="rId21"/>
    </p:embeddedFont>
    <p:embeddedFont>
      <p:font typeface="Red Hat Text" panose="02010303040201060303" pitchFamily="34" charset="-122"/>
      <p:bold r:id="rId22"/>
    </p:embeddedFont>
    <p:embeddedFont>
      <p:font typeface="Red Hat Text" panose="02010303040201060303" pitchFamily="34" charset="-120"/>
      <p:bold r:id="rId23"/>
    </p:embeddedFont>
    <p:embeddedFont>
      <p:font typeface="Roboto Light" panose="02000000000000000000" pitchFamily="34" charset="0"/>
      <p:bold r:id="rId24"/>
    </p:embeddedFont>
    <p:embeddedFont>
      <p:font typeface="Roboto Light" panose="02000000000000000000" pitchFamily="34" charset="-122"/>
      <p:bold r:id="rId25"/>
    </p:embeddedFont>
    <p:embeddedFont>
      <p:font typeface="Roboto Light" panose="02000000000000000000" pitchFamily="34" charset="-120"/>
      <p:bold r:id="rId26"/>
    </p:embeddedFont>
    <p:embeddedFont>
      <p:font typeface="Bahnschrift SemiBold" panose="020B0502040204020203" charset="0"/>
      <p:bold r:id="rId27"/>
    </p:embeddedFont>
    <p:embeddedFont>
      <p:font typeface="Calibri" panose="020F0502020204030204" charset="0"/>
      <p:regular r:id="rId28"/>
      <p:bold r:id="rId29"/>
      <p:italic r:id="rId30"/>
      <p:boldItalic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BAC55"/>
    <a:srgbClr val="556D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1" Type="http://schemas.openxmlformats.org/officeDocument/2006/relationships/font" Target="fonts/font12.fntdata"/><Relationship Id="rId30" Type="http://schemas.openxmlformats.org/officeDocument/2006/relationships/font" Target="fonts/font11.fntdata"/><Relationship Id="rId3" Type="http://schemas.openxmlformats.org/officeDocument/2006/relationships/slide" Target="slides/slide1.xml"/><Relationship Id="rId29" Type="http://schemas.openxmlformats.org/officeDocument/2006/relationships/font" Target="fonts/font10.fntdata"/><Relationship Id="rId28" Type="http://schemas.openxmlformats.org/officeDocument/2006/relationships/font" Target="fonts/font9.fntdata"/><Relationship Id="rId27" Type="http://schemas.openxmlformats.org/officeDocument/2006/relationships/font" Target="fonts/font8.fntdata"/><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312420"/>
            <a:ext cx="14630400" cy="7917180"/>
          </a:xfrm>
          <a:prstGeom prst="rect">
            <a:avLst/>
          </a:prstGeom>
          <a:noFill/>
          <a:ln w="9525">
            <a:noFill/>
          </a:ln>
        </p:spPr>
      </p:pic>
      <p:sp>
        <p:nvSpPr>
          <p:cNvPr id="2051" name="Rectangle 3"/>
          <p:cNvSpPr>
            <a:spLocks noGrp="1" noChangeArrowheads="1"/>
          </p:cNvSpPr>
          <p:nvPr>
            <p:ph type="ctrTitle"/>
          </p:nvPr>
        </p:nvSpPr>
        <p:spPr>
          <a:xfrm>
            <a:off x="749301" y="744856"/>
            <a:ext cx="13131800" cy="1299210"/>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751840" y="2211706"/>
            <a:ext cx="13139421" cy="1177290"/>
          </a:xfrm>
        </p:spPr>
        <p:txBody>
          <a:bodyPr/>
          <a:lstStyle>
            <a:lvl1pPr marL="0" indent="0">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731520" y="7494270"/>
            <a:ext cx="3413760" cy="5715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 name="Rectangle 6"/>
          <p:cNvSpPr>
            <a:spLocks noGrp="1" noChangeArrowheads="1"/>
          </p:cNvSpPr>
          <p:nvPr>
            <p:ph type="ftr" sz="quarter" idx="3"/>
          </p:nvPr>
        </p:nvSpPr>
        <p:spPr bwMode="auto">
          <a:xfrm>
            <a:off x="4998720" y="7494270"/>
            <a:ext cx="4632960" cy="5715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1" name="Rectangle 7"/>
          <p:cNvSpPr>
            <a:spLocks noGrp="1" noChangeArrowheads="1"/>
          </p:cNvSpPr>
          <p:nvPr>
            <p:ph type="sldNum" sz="quarter" idx="4"/>
          </p:nvPr>
        </p:nvSpPr>
        <p:spPr bwMode="auto">
          <a:xfrm>
            <a:off x="10485120" y="7494270"/>
            <a:ext cx="3413760" cy="5715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46FDEA9-29B0-4000-9A8A-EA5137E778F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1" y="2051686"/>
            <a:ext cx="12618720" cy="3423284"/>
          </a:xfrm>
        </p:spPr>
        <p:txBody>
          <a:bodyPr anchor="b"/>
          <a:lstStyle>
            <a:lvl1pPr>
              <a:defRPr sz="7200"/>
            </a:lvl1pPr>
          </a:lstStyle>
          <a:p>
            <a:r>
              <a:rPr lang="en-US" smtClean="0"/>
              <a:t>Click to edit Master title style</a:t>
            </a:r>
            <a:endParaRPr lang="en-US"/>
          </a:p>
        </p:txBody>
      </p:sp>
      <p:sp>
        <p:nvSpPr>
          <p:cNvPr id="3" name="Text Placeholder 2"/>
          <p:cNvSpPr>
            <a:spLocks noGrp="1"/>
          </p:cNvSpPr>
          <p:nvPr>
            <p:ph type="body" idx="1"/>
          </p:nvPr>
        </p:nvSpPr>
        <p:spPr>
          <a:xfrm>
            <a:off x="998221" y="5507356"/>
            <a:ext cx="12618720" cy="1800224"/>
          </a:xfrm>
        </p:spPr>
        <p:txBody>
          <a:bodyPr/>
          <a:lstStyle>
            <a:lvl1pPr marL="0" indent="0">
              <a:buNone/>
              <a:defRPr sz="2880"/>
            </a:lvl1pPr>
            <a:lvl2pPr marL="548640" indent="0">
              <a:buNone/>
              <a:defRPr sz="2400"/>
            </a:lvl2pPr>
            <a:lvl3pPr marL="1097280" indent="0">
              <a:buNone/>
              <a:defRPr sz="216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31520" y="1409700"/>
            <a:ext cx="6461760" cy="5943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7437120" y="1409700"/>
            <a:ext cx="6461760" cy="5943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8381" y="438150"/>
            <a:ext cx="12618720" cy="1590676"/>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1008381" y="2017396"/>
            <a:ext cx="6189979"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1008381" y="3006090"/>
            <a:ext cx="6189979" cy="442150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7406640" y="2017396"/>
            <a:ext cx="6220461"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7406640" y="3006090"/>
            <a:ext cx="6220461" cy="442150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8381" y="548640"/>
            <a:ext cx="4719320" cy="1920240"/>
          </a:xfrm>
        </p:spPr>
        <p:txBody>
          <a:bodyPr anchor="b"/>
          <a:lstStyle>
            <a:lvl1pPr>
              <a:defRPr sz="3840"/>
            </a:lvl1pPr>
          </a:lstStyle>
          <a:p>
            <a:r>
              <a:rPr lang="en-US" smtClean="0"/>
              <a:t>Click to edit Master title style</a:t>
            </a:r>
            <a:endParaRPr lang="en-US"/>
          </a:p>
        </p:txBody>
      </p:sp>
      <p:sp>
        <p:nvSpPr>
          <p:cNvPr id="3" name="Content Placeholder 2"/>
          <p:cNvSpPr>
            <a:spLocks noGrp="1"/>
          </p:cNvSpPr>
          <p:nvPr>
            <p:ph idx="1"/>
          </p:nvPr>
        </p:nvSpPr>
        <p:spPr>
          <a:xfrm>
            <a:off x="6220461" y="1184910"/>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1008381" y="2468880"/>
            <a:ext cx="4719320"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8381" y="548640"/>
            <a:ext cx="4719320" cy="1920240"/>
          </a:xfrm>
        </p:spPr>
        <p:txBody>
          <a:bodyPr anchor="b"/>
          <a:lstStyle>
            <a:lvl1pPr>
              <a:defRPr sz="3840"/>
            </a:lvl1pPr>
          </a:lstStyle>
          <a:p>
            <a:r>
              <a:rPr lang="en-US" smtClean="0"/>
              <a:t>Click to edit Master title style</a:t>
            </a:r>
            <a:endParaRPr lang="en-US"/>
          </a:p>
        </p:txBody>
      </p:sp>
      <p:sp>
        <p:nvSpPr>
          <p:cNvPr id="3" name="Picture Placeholder 2"/>
          <p:cNvSpPr>
            <a:spLocks noGrp="1"/>
          </p:cNvSpPr>
          <p:nvPr>
            <p:ph type="pic" idx="1"/>
          </p:nvPr>
        </p:nvSpPr>
        <p:spPr>
          <a:xfrm>
            <a:off x="6220461" y="1184910"/>
            <a:ext cx="7406640" cy="5848350"/>
          </a:xfrm>
        </p:spPr>
        <p:txBody>
          <a:bodyPr vert="horz" wrap="square" lIns="91440" tIns="45720" rIns="91440" bIns="45720" numCol="1" anchor="t" anchorCtr="0" compatLnSpc="1"/>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008381" y="2468880"/>
            <a:ext cx="4719320"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07040" y="228600"/>
            <a:ext cx="3291840" cy="71247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31520" y="228600"/>
            <a:ext cx="9631680" cy="71247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p:cNvPicPr>
            <a:picLocks noChangeAspect="1"/>
          </p:cNvPicPr>
          <p:nvPr/>
        </p:nvPicPr>
        <p:blipFill>
          <a:blip r:embed="rId13"/>
          <a:stretch>
            <a:fillRect/>
          </a:stretch>
        </p:blipFill>
        <p:spPr>
          <a:xfrm>
            <a:off x="0" y="0"/>
            <a:ext cx="14630400" cy="8229600"/>
          </a:xfrm>
          <a:prstGeom prst="rect">
            <a:avLst/>
          </a:prstGeom>
          <a:noFill/>
          <a:ln w="9525">
            <a:noFill/>
          </a:ln>
        </p:spPr>
      </p:pic>
      <p:sp>
        <p:nvSpPr>
          <p:cNvPr id="1027" name="Rectangle 3"/>
          <p:cNvSpPr>
            <a:spLocks noGrp="1"/>
          </p:cNvSpPr>
          <p:nvPr>
            <p:ph type="title"/>
          </p:nvPr>
        </p:nvSpPr>
        <p:spPr>
          <a:xfrm>
            <a:off x="731520" y="228600"/>
            <a:ext cx="13167360" cy="699136"/>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731520" y="1409700"/>
            <a:ext cx="13167360" cy="59436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731520" y="7494270"/>
            <a:ext cx="341376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68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0" name="Rectangle 6"/>
          <p:cNvSpPr>
            <a:spLocks noGrp="1" noChangeArrowheads="1"/>
          </p:cNvSpPr>
          <p:nvPr>
            <p:ph type="ftr" sz="quarter" idx="3"/>
          </p:nvPr>
        </p:nvSpPr>
        <p:spPr bwMode="auto">
          <a:xfrm>
            <a:off x="4998720" y="7494270"/>
            <a:ext cx="463296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68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1" name="Rectangle 7"/>
          <p:cNvSpPr>
            <a:spLocks noGrp="1" noChangeArrowheads="1"/>
          </p:cNvSpPr>
          <p:nvPr>
            <p:ph type="sldNum" sz="quarter" idx="4"/>
          </p:nvPr>
        </p:nvSpPr>
        <p:spPr bwMode="auto">
          <a:xfrm>
            <a:off x="10485120" y="7494270"/>
            <a:ext cx="341376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680"/>
            </a:lvl1p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fontAlgn="base">
        <a:spcBef>
          <a:spcPct val="0"/>
        </a:spcBef>
        <a:spcAft>
          <a:spcPct val="0"/>
        </a:spcAft>
        <a:defRPr sz="432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411480" indent="-411480" algn="l" rtl="0" fontAlgn="base">
        <a:spcBef>
          <a:spcPct val="24000"/>
        </a:spcBef>
        <a:spcAft>
          <a:spcPct val="0"/>
        </a:spcAft>
        <a:buChar char="•"/>
        <a:defRPr sz="3840" kern="1200">
          <a:solidFill>
            <a:schemeClr val="tx1"/>
          </a:solidFill>
          <a:latin typeface="+mn-lt"/>
          <a:ea typeface="+mn-ea"/>
          <a:cs typeface="+mn-cs"/>
        </a:defRPr>
      </a:lvl1pPr>
      <a:lvl2pPr marL="891540" indent="-342900" algn="l" rtl="0" fontAlgn="base">
        <a:spcBef>
          <a:spcPct val="24000"/>
        </a:spcBef>
        <a:spcAft>
          <a:spcPct val="0"/>
        </a:spcAft>
        <a:buChar char="–"/>
        <a:defRPr sz="3360" kern="1200">
          <a:solidFill>
            <a:schemeClr val="tx1"/>
          </a:solidFill>
          <a:latin typeface="+mn-lt"/>
          <a:ea typeface="+mn-ea"/>
          <a:cs typeface="+mn-cs"/>
        </a:defRPr>
      </a:lvl2pPr>
      <a:lvl3pPr marL="1371600" indent="-274320" algn="l" rtl="0" fontAlgn="base">
        <a:spcBef>
          <a:spcPct val="24000"/>
        </a:spcBef>
        <a:spcAft>
          <a:spcPct val="0"/>
        </a:spcAft>
        <a:buChar char="•"/>
        <a:defRPr sz="2880" kern="1200">
          <a:solidFill>
            <a:schemeClr val="tx1"/>
          </a:solidFill>
          <a:latin typeface="+mn-lt"/>
          <a:ea typeface="+mn-ea"/>
          <a:cs typeface="+mn-cs"/>
        </a:defRPr>
      </a:lvl3pPr>
      <a:lvl4pPr marL="1920240" indent="-274320" algn="l" rtl="0" fontAlgn="base">
        <a:spcBef>
          <a:spcPct val="24000"/>
        </a:spcBef>
        <a:spcAft>
          <a:spcPct val="0"/>
        </a:spcAft>
        <a:buChar char="–"/>
        <a:defRPr sz="2400" kern="1200">
          <a:solidFill>
            <a:schemeClr val="tx1"/>
          </a:solidFill>
          <a:latin typeface="+mn-lt"/>
          <a:ea typeface="+mn-ea"/>
          <a:cs typeface="+mn-cs"/>
        </a:defRPr>
      </a:lvl4pPr>
      <a:lvl5pPr marL="2468880" indent="-274320" algn="l" rtl="0" fontAlgn="base">
        <a:spcBef>
          <a:spcPct val="24000"/>
        </a:spcBef>
        <a:spcAft>
          <a:spcPct val="0"/>
        </a:spcAft>
        <a:buChar char="»"/>
        <a:defRPr sz="240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0" y="0"/>
            <a:ext cx="14630400" cy="1698625"/>
          </a:xfrm>
          <a:prstGeom prst="rect">
            <a:avLst/>
          </a:prstGeom>
          <a:solidFill>
            <a:schemeClr val="bg1"/>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                        </a:t>
            </a:r>
            <a:r>
              <a:rPr kumimoji="0" lang="en-US" altLang="zh-CN" sz="4400" b="0" i="0" u="none" strike="noStrike" cap="none" normalizeH="0" baseline="0" smtClean="0">
                <a:ln>
                  <a:noFill/>
                </a:ln>
                <a:solidFill>
                  <a:schemeClr val="accent2">
                    <a:lumMod val="75000"/>
                  </a:schemeClr>
                </a:solidFill>
                <a:effectLst/>
                <a:latin typeface="Arial" panose="020B0604020202020204" pitchFamily="34" charset="0"/>
                <a:ea typeface="SimSun" panose="02010600030101010101" pitchFamily="2" charset="-122"/>
              </a:rPr>
              <a:t>W</a:t>
            </a:r>
            <a:r>
              <a:rPr kumimoji="0" lang="en-US" altLang="zh-CN" sz="4400" b="0" i="0" u="none" strike="noStrike" cap="none" normalizeH="0" baseline="0" smtClean="0">
                <a:ln>
                  <a:noFill/>
                </a:ln>
                <a:solidFill>
                  <a:schemeClr val="tx1"/>
                </a:solidFill>
                <a:effectLst/>
                <a:latin typeface="Arial" panose="020B0604020202020204" pitchFamily="34" charset="0"/>
                <a:ea typeface="SimSun" panose="02010600030101010101" pitchFamily="2" charset="-122"/>
              </a:rPr>
              <a:t>        E         L      C       O        M          </a:t>
            </a:r>
            <a:r>
              <a:rPr kumimoji="0" lang="en-US" altLang="zh-CN" sz="4400" b="0" i="0" u="none" strike="noStrike" cap="none" normalizeH="0" baseline="0" smtClean="0">
                <a:ln>
                  <a:noFill/>
                </a:ln>
                <a:solidFill>
                  <a:schemeClr val="accent2"/>
                </a:solidFill>
                <a:effectLst/>
                <a:latin typeface="Arial" panose="020B0604020202020204" pitchFamily="34" charset="0"/>
                <a:ea typeface="SimSun" panose="02010600030101010101" pitchFamily="2" charset="-122"/>
              </a:rPr>
              <a:t>E</a:t>
            </a:r>
            <a:endParaRPr kumimoji="0" lang="en-US" altLang="zh-CN" sz="4400" b="0" i="0" u="none" strike="noStrike" cap="none" normalizeH="0" baseline="0" smtClean="0">
              <a:ln>
                <a:noFill/>
              </a:ln>
              <a:solidFill>
                <a:schemeClr val="accent2"/>
              </a:solidFill>
              <a:effectLst/>
              <a:latin typeface="Arial" panose="020B0604020202020204" pitchFamily="34" charset="0"/>
              <a:ea typeface="SimSun" panose="02010600030101010101" pitchFamily="2" charset="-122"/>
            </a:endParaRPr>
          </a:p>
        </p:txBody>
      </p:sp>
      <p:pic>
        <p:nvPicPr>
          <p:cNvPr id="3" name="Picture 2" descr="WELCOME DATA SCIENCE"/>
          <p:cNvPicPr>
            <a:picLocks noChangeAspect="1"/>
          </p:cNvPicPr>
          <p:nvPr/>
        </p:nvPicPr>
        <p:blipFill>
          <a:blip r:embed="rId1"/>
          <a:stretch>
            <a:fillRect/>
          </a:stretch>
        </p:blipFill>
        <p:spPr>
          <a:xfrm>
            <a:off x="0" y="1698625"/>
            <a:ext cx="14630400" cy="4353560"/>
          </a:xfrm>
          <a:prstGeom prst="rect">
            <a:avLst/>
          </a:prstGeom>
        </p:spPr>
      </p:pic>
      <p:sp>
        <p:nvSpPr>
          <p:cNvPr id="5" name="Text Box 4"/>
          <p:cNvSpPr txBox="1"/>
          <p:nvPr/>
        </p:nvSpPr>
        <p:spPr>
          <a:xfrm>
            <a:off x="485140" y="6327140"/>
            <a:ext cx="10128885" cy="808990"/>
          </a:xfrm>
          <a:prstGeom prst="rect">
            <a:avLst/>
          </a:prstGeom>
          <a:noFill/>
        </p:spPr>
        <p:txBody>
          <a:bodyPr wrap="square" rtlCol="0">
            <a:noAutofit/>
          </a:bodyPr>
          <a:p>
            <a:r>
              <a:rPr lang="en-US" sz="2800">
                <a:solidFill>
                  <a:schemeClr val="accent2"/>
                </a:solidFill>
              </a:rPr>
              <a:t>T</a:t>
            </a:r>
            <a:r>
              <a:rPr lang="en-US" sz="2800">
                <a:gradFill>
                  <a:gsLst>
                    <a:gs pos="0">
                      <a:srgbClr val="7B32B2"/>
                    </a:gs>
                    <a:gs pos="100000">
                      <a:srgbClr val="401A5D"/>
                    </a:gs>
                  </a:gsLst>
                  <a:lin scaled="0"/>
                </a:gradFill>
              </a:rPr>
              <a:t>hird</a:t>
            </a:r>
            <a:r>
              <a:rPr lang="en-US" sz="2800">
                <a:solidFill>
                  <a:srgbClr val="FF0000"/>
                </a:solidFill>
              </a:rPr>
              <a:t> E</a:t>
            </a:r>
            <a:r>
              <a:rPr lang="en-US" sz="2800">
                <a:gradFill>
                  <a:gsLst>
                    <a:gs pos="0">
                      <a:srgbClr val="7B32B2"/>
                    </a:gs>
                    <a:gs pos="100000">
                      <a:srgbClr val="401A5D"/>
                    </a:gs>
                  </a:gsLst>
                  <a:lin scaled="0"/>
                </a:gradFill>
              </a:rPr>
              <a:t>DA </a:t>
            </a:r>
            <a:r>
              <a:rPr lang="en-US" sz="2800">
                <a:solidFill>
                  <a:srgbClr val="FF0000"/>
                </a:solidFill>
              </a:rPr>
              <a:t>h</a:t>
            </a:r>
            <a:r>
              <a:rPr lang="en-US" sz="2800">
                <a:gradFill>
                  <a:gsLst>
                    <a:gs pos="0">
                      <a:srgbClr val="7B32B2"/>
                    </a:gs>
                    <a:gs pos="100000">
                      <a:srgbClr val="401A5D"/>
                    </a:gs>
                  </a:gsLst>
                  <a:lin scaled="0"/>
                </a:gradFill>
              </a:rPr>
              <a:t>ouse</a:t>
            </a:r>
            <a:r>
              <a:rPr lang="en-US" sz="2800">
                <a:solidFill>
                  <a:srgbClr val="FF0000"/>
                </a:solidFill>
              </a:rPr>
              <a:t> p</a:t>
            </a:r>
            <a:r>
              <a:rPr lang="en-US" sz="2800">
                <a:gradFill>
                  <a:gsLst>
                    <a:gs pos="0">
                      <a:srgbClr val="7B32B2"/>
                    </a:gs>
                    <a:gs pos="100000">
                      <a:srgbClr val="401A5D"/>
                    </a:gs>
                  </a:gsLst>
                  <a:lin scaled="0"/>
                </a:gradFill>
              </a:rPr>
              <a:t>rediction </a:t>
            </a:r>
            <a:r>
              <a:rPr lang="en-US" sz="2800">
                <a:solidFill>
                  <a:schemeClr val="accent2"/>
                </a:solidFill>
              </a:rPr>
              <a:t>P</a:t>
            </a:r>
            <a:r>
              <a:rPr lang="en-US" sz="2800">
                <a:gradFill>
                  <a:gsLst>
                    <a:gs pos="0">
                      <a:srgbClr val="7B32B2"/>
                    </a:gs>
                    <a:gs pos="100000">
                      <a:srgbClr val="401A5D"/>
                    </a:gs>
                  </a:gsLst>
                  <a:lin scaled="0"/>
                </a:gradFill>
              </a:rPr>
              <a:t>roject for the </a:t>
            </a:r>
            <a:r>
              <a:rPr lang="en-US" sz="2800">
                <a:solidFill>
                  <a:schemeClr val="accent2"/>
                </a:solidFill>
              </a:rPr>
              <a:t>N</a:t>
            </a:r>
            <a:r>
              <a:rPr lang="en-US" sz="2800">
                <a:gradFill>
                  <a:gsLst>
                    <a:gs pos="0">
                      <a:srgbClr val="7B32B2"/>
                    </a:gs>
                    <a:gs pos="100000">
                      <a:srgbClr val="401A5D"/>
                    </a:gs>
                  </a:gsLst>
                  <a:lin scaled="0"/>
                </a:gradFill>
              </a:rPr>
              <a:t>exthike </a:t>
            </a:r>
            <a:r>
              <a:rPr lang="en-US" sz="2800">
                <a:solidFill>
                  <a:schemeClr val="accent2"/>
                </a:solidFill>
              </a:rPr>
              <a:t>I</a:t>
            </a:r>
            <a:r>
              <a:rPr lang="en-US" sz="2800">
                <a:gradFill>
                  <a:gsLst>
                    <a:gs pos="0">
                      <a:srgbClr val="7B32B2"/>
                    </a:gs>
                    <a:gs pos="100000">
                      <a:srgbClr val="401A5D"/>
                    </a:gs>
                  </a:gsLst>
                  <a:lin scaled="0"/>
                </a:gradFill>
              </a:rPr>
              <a:t>T </a:t>
            </a:r>
            <a:r>
              <a:rPr lang="en-US" sz="2800">
                <a:solidFill>
                  <a:schemeClr val="accent2"/>
                </a:solidFill>
              </a:rPr>
              <a:t>S</a:t>
            </a:r>
            <a:r>
              <a:rPr lang="en-US" sz="2800">
                <a:gradFill>
                  <a:gsLst>
                    <a:gs pos="0">
                      <a:srgbClr val="7B32B2"/>
                    </a:gs>
                    <a:gs pos="100000">
                      <a:srgbClr val="401A5D"/>
                    </a:gs>
                  </a:gsLst>
                  <a:lin scaled="0"/>
                </a:gradFill>
              </a:rPr>
              <a:t>olution </a:t>
            </a:r>
            <a:endParaRPr lang="en-US" sz="2800">
              <a:gradFill>
                <a:gsLst>
                  <a:gs pos="0">
                    <a:srgbClr val="7B32B2"/>
                  </a:gs>
                  <a:gs pos="100000">
                    <a:srgbClr val="401A5D"/>
                  </a:gs>
                </a:gsLst>
                <a:lin scaled="0"/>
              </a:gradFill>
            </a:endParaRPr>
          </a:p>
          <a:p>
            <a:r>
              <a:rPr lang="en-US" sz="2800">
                <a:gradFill>
                  <a:gsLst>
                    <a:gs pos="0">
                      <a:srgbClr val="7B32B2"/>
                    </a:gs>
                    <a:gs pos="100000">
                      <a:srgbClr val="401A5D"/>
                    </a:gs>
                  </a:gsLst>
                  <a:lin scaled="0"/>
                </a:gradFill>
              </a:rPr>
              <a:t> </a:t>
            </a:r>
            <a:endParaRPr lang="en-US" sz="2800">
              <a:gradFill>
                <a:gsLst>
                  <a:gs pos="0">
                    <a:srgbClr val="7B32B2"/>
                  </a:gs>
                  <a:gs pos="100000">
                    <a:srgbClr val="401A5D"/>
                  </a:gs>
                </a:gsLst>
                <a:lin scaled="0"/>
              </a:gradFill>
            </a:endParaRPr>
          </a:p>
          <a:p>
            <a:r>
              <a:rPr lang="en-US" sz="2400">
                <a:solidFill>
                  <a:schemeClr val="accent2"/>
                </a:solidFill>
              </a:rPr>
              <a:t>B</a:t>
            </a:r>
            <a:r>
              <a:rPr lang="en-US" sz="2400">
                <a:solidFill>
                  <a:srgbClr val="00B0F0"/>
                </a:solidFill>
              </a:rPr>
              <a:t>y</a:t>
            </a:r>
            <a:r>
              <a:rPr lang="en-US" sz="2400">
                <a:gradFill>
                  <a:gsLst>
                    <a:gs pos="0">
                      <a:srgbClr val="14CD68"/>
                    </a:gs>
                    <a:gs pos="100000">
                      <a:srgbClr val="035C7D"/>
                    </a:gs>
                  </a:gsLst>
                  <a:lin scaled="0"/>
                </a:gradFill>
              </a:rPr>
              <a:t> </a:t>
            </a:r>
            <a:r>
              <a:rPr lang="en-US" sz="2400">
                <a:solidFill>
                  <a:schemeClr val="accent2"/>
                </a:solidFill>
              </a:rPr>
              <a:t>K</a:t>
            </a:r>
            <a:r>
              <a:rPr lang="en-US" sz="2400">
                <a:solidFill>
                  <a:srgbClr val="00B0F0"/>
                </a:solidFill>
              </a:rPr>
              <a:t>uldeep</a:t>
            </a:r>
            <a:r>
              <a:rPr lang="en-US" sz="2400">
                <a:gradFill>
                  <a:gsLst>
                    <a:gs pos="0">
                      <a:srgbClr val="14CD68"/>
                    </a:gs>
                    <a:gs pos="100000">
                      <a:srgbClr val="035C7D"/>
                    </a:gs>
                  </a:gsLst>
                  <a:lin scaled="0"/>
                </a:gradFill>
              </a:rPr>
              <a:t> </a:t>
            </a:r>
            <a:r>
              <a:rPr lang="en-US" sz="2400">
                <a:solidFill>
                  <a:schemeClr val="accent2"/>
                </a:solidFill>
              </a:rPr>
              <a:t>S</a:t>
            </a:r>
            <a:r>
              <a:rPr lang="en-US" sz="2400">
                <a:solidFill>
                  <a:srgbClr val="00B0F0"/>
                </a:solidFill>
              </a:rPr>
              <a:t>ingh</a:t>
            </a:r>
            <a:endParaRPr lang="en-US" sz="2400">
              <a:solidFill>
                <a:srgbClr val="00B0F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5968365" y="627380"/>
            <a:ext cx="7824470" cy="1634490"/>
          </a:xfrm>
          <a:prstGeom prst="rect">
            <a:avLst/>
          </a:prstGeom>
          <a:noFill/>
        </p:spPr>
        <p:txBody>
          <a:bodyPr wrap="square" lIns="0" tIns="0" rIns="0" bIns="0" rtlCol="0" anchor="t"/>
          <a:lstStyle/>
          <a:p>
            <a:pPr marL="0" indent="0">
              <a:lnSpc>
                <a:spcPts val="5500"/>
              </a:lnSpc>
              <a:buNone/>
            </a:pP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E</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xploratory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D</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ata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A</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nalysis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F</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or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R</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eal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E</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state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P</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ricing</a:t>
            </a:r>
            <a:endParaRPr lang="en-US" sz="4400" dirty="0"/>
          </a:p>
        </p:txBody>
      </p:sp>
      <p:sp>
        <p:nvSpPr>
          <p:cNvPr id="4" name="Text 1"/>
          <p:cNvSpPr/>
          <p:nvPr/>
        </p:nvSpPr>
        <p:spPr>
          <a:xfrm>
            <a:off x="5715000" y="3434080"/>
            <a:ext cx="8594090" cy="1880870"/>
          </a:xfrm>
          <a:prstGeom prst="rect">
            <a:avLst/>
          </a:prstGeom>
          <a:noFill/>
        </p:spPr>
        <p:txBody>
          <a:bodyPr wrap="square" lIns="0" tIns="0" rIns="0" bIns="0" rtlCol="0" anchor="t"/>
          <a:lstStyle/>
          <a:p>
            <a:pPr marL="0" indent="0" algn="just">
              <a:lnSpc>
                <a:spcPct val="150000"/>
              </a:lnSpc>
              <a:buNone/>
            </a:pPr>
            <a:r>
              <a:rPr lang="en-US" sz="200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rPr>
              <a:t>This presentation explores the dynamics of house valuation in a dynamic market, using Exploratory Data Analysis (EDA) to uncover patterns, correlations, and trends within a real estate dataset.</a:t>
            </a:r>
            <a:endParaRPr lang="en-US" sz="2000" dirty="0"/>
          </a:p>
        </p:txBody>
      </p:sp>
      <p:sp>
        <p:nvSpPr>
          <p:cNvPr id="5" name="Shape 2"/>
          <p:cNvSpPr/>
          <p:nvPr/>
        </p:nvSpPr>
        <p:spPr>
          <a:xfrm>
            <a:off x="6324124" y="5515808"/>
            <a:ext cx="382905" cy="382905"/>
          </a:xfrm>
          <a:prstGeom prst="roundRect">
            <a:avLst>
              <a:gd name="adj" fmla="val 23878209"/>
            </a:avLst>
          </a:prstGeom>
          <a:noFill/>
          <a:ln w="7620">
            <a:solidFill>
              <a:srgbClr val="FFFFFF"/>
            </a:solidFill>
            <a:prstDash val="solid"/>
          </a:ln>
        </p:spPr>
      </p:sp>
      <p:sp>
        <p:nvSpPr>
          <p:cNvPr id="7" name="Text 3"/>
          <p:cNvSpPr/>
          <p:nvPr/>
        </p:nvSpPr>
        <p:spPr>
          <a:xfrm>
            <a:off x="5698490" y="6497320"/>
            <a:ext cx="4135120" cy="395605"/>
          </a:xfrm>
          <a:prstGeom prst="rect">
            <a:avLst/>
          </a:prstGeom>
          <a:noFill/>
        </p:spPr>
        <p:txBody>
          <a:bodyPr wrap="none" lIns="0" tIns="0" rIns="0" bIns="0" rtlCol="0" anchor="t"/>
          <a:lstStyle/>
          <a:p>
            <a:pPr marL="0" indent="0" algn="l">
              <a:lnSpc>
                <a:spcPts val="3250"/>
              </a:lnSpc>
              <a:buNone/>
            </a:pPr>
            <a:r>
              <a:rPr lang="en-US" sz="2350" b="1" dirty="0">
                <a:solidFill>
                  <a:schemeClr val="accent2"/>
                </a:solidFill>
                <a:latin typeface="+mj-lt"/>
                <a:ea typeface="Roboto Bold" pitchFamily="34" charset="-122"/>
                <a:cs typeface="+mj-lt"/>
              </a:rPr>
              <a:t>B</a:t>
            </a:r>
            <a:r>
              <a:rPr lang="en-US" sz="2350" b="1" dirty="0">
                <a:solidFill>
                  <a:srgbClr val="3B3535"/>
                </a:solidFill>
                <a:latin typeface="+mj-lt"/>
                <a:ea typeface="Roboto Bold" pitchFamily="34" charset="-122"/>
                <a:cs typeface="+mj-lt"/>
              </a:rPr>
              <a:t>y </a:t>
            </a:r>
            <a:r>
              <a:rPr lang="en-US" sz="2350" b="1" dirty="0">
                <a:solidFill>
                  <a:schemeClr val="accent2"/>
                </a:solidFill>
                <a:latin typeface="+mj-lt"/>
                <a:ea typeface="Roboto Bold" pitchFamily="34" charset="-122"/>
                <a:cs typeface="+mj-lt"/>
              </a:rPr>
              <a:t>K</a:t>
            </a:r>
            <a:r>
              <a:rPr lang="en-US" sz="2350" b="1" dirty="0">
                <a:solidFill>
                  <a:srgbClr val="3B3535"/>
                </a:solidFill>
                <a:latin typeface="+mj-lt"/>
                <a:ea typeface="Roboto Bold" pitchFamily="34" charset="-122"/>
                <a:cs typeface="+mj-lt"/>
              </a:rPr>
              <a:t>uldeep </a:t>
            </a:r>
            <a:r>
              <a:rPr lang="en-US" sz="2350" b="1" dirty="0">
                <a:solidFill>
                  <a:schemeClr val="accent2"/>
                </a:solidFill>
                <a:latin typeface="+mj-lt"/>
                <a:ea typeface="Roboto Bold" pitchFamily="34" charset="-122"/>
                <a:cs typeface="+mj-lt"/>
              </a:rPr>
              <a:t>S</a:t>
            </a:r>
            <a:r>
              <a:rPr lang="en-US" sz="2350" b="1" dirty="0">
                <a:solidFill>
                  <a:srgbClr val="3B3535"/>
                </a:solidFill>
                <a:latin typeface="+mj-lt"/>
                <a:ea typeface="Roboto Bold" pitchFamily="34" charset="-122"/>
                <a:cs typeface="+mj-lt"/>
              </a:rPr>
              <a:t>ingh</a:t>
            </a:r>
            <a:endParaRPr lang="en-US" sz="2350" b="1" dirty="0">
              <a:solidFill>
                <a:srgbClr val="3B3535"/>
              </a:solidFill>
              <a:latin typeface="+mj-lt"/>
              <a:ea typeface="Roboto Bold" pitchFamily="34" charset="-122"/>
              <a:cs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7565" y="1141730"/>
            <a:ext cx="5632450" cy="1210310"/>
          </a:xfrm>
          <a:prstGeom prst="rect">
            <a:avLst/>
          </a:prstGeom>
          <a:noFill/>
        </p:spPr>
        <p:txBody>
          <a:bodyPr wrap="none" lIns="0" tIns="0" rIns="0" bIns="0" rtlCol="0" anchor="t"/>
          <a:lstStyle/>
          <a:p>
            <a:pPr marL="0" indent="0">
              <a:lnSpc>
                <a:spcPts val="5500"/>
              </a:lnSpc>
              <a:buNone/>
            </a:pP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P</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roblem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S</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tatement</a:t>
            </a:r>
            <a:endParaRPr lang="en-US" sz="4400" dirty="0"/>
          </a:p>
        </p:txBody>
      </p:sp>
      <p:sp>
        <p:nvSpPr>
          <p:cNvPr id="3" name="Text 1"/>
          <p:cNvSpPr/>
          <p:nvPr/>
        </p:nvSpPr>
        <p:spPr>
          <a:xfrm>
            <a:off x="837724" y="3788093"/>
            <a:ext cx="2816185" cy="351949"/>
          </a:xfrm>
          <a:prstGeom prst="rect">
            <a:avLst/>
          </a:prstGeom>
          <a:noFill/>
        </p:spPr>
        <p:txBody>
          <a:bodyPr wrap="none" lIns="0" tIns="0" rIns="0" bIns="0" rtlCol="0" anchor="t"/>
          <a:lstStyle/>
          <a:p>
            <a:pPr marL="0" indent="0">
              <a:lnSpc>
                <a:spcPts val="2750"/>
              </a:lnSpc>
              <a:buNone/>
            </a:pPr>
            <a:r>
              <a:rPr lang="en-US" sz="22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The Challenge</a:t>
            </a:r>
            <a:endParaRPr lang="en-US" sz="2200" dirty="0"/>
          </a:p>
        </p:txBody>
      </p:sp>
      <p:sp>
        <p:nvSpPr>
          <p:cNvPr id="4" name="Text 2"/>
          <p:cNvSpPr/>
          <p:nvPr/>
        </p:nvSpPr>
        <p:spPr>
          <a:xfrm>
            <a:off x="700405" y="4379595"/>
            <a:ext cx="6322695" cy="1413510"/>
          </a:xfrm>
          <a:prstGeom prst="rect">
            <a:avLst/>
          </a:prstGeom>
          <a:noFill/>
        </p:spPr>
        <p:txBody>
          <a:bodyPr wrap="square" lIns="0" tIns="0" rIns="0" bIns="0" rtlCol="0" anchor="t"/>
          <a:lstStyle/>
          <a:p>
            <a:pPr marL="0" indent="0" algn="just">
              <a:lnSpc>
                <a:spcPct val="150000"/>
              </a:lnSpc>
              <a:buNone/>
            </a:pPr>
            <a:r>
              <a:rPr lang="en-US" sz="185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rPr>
              <a:t>Determining an optimal and competitive price for a house is a multifaceted challenge in the dynamic real estate market.</a:t>
            </a:r>
            <a:endParaRPr lang="en-US" sz="1850" dirty="0"/>
          </a:p>
        </p:txBody>
      </p:sp>
      <p:sp>
        <p:nvSpPr>
          <p:cNvPr id="5" name="Text 3"/>
          <p:cNvSpPr/>
          <p:nvPr/>
        </p:nvSpPr>
        <p:spPr>
          <a:xfrm>
            <a:off x="7614761" y="3788093"/>
            <a:ext cx="2816185" cy="351949"/>
          </a:xfrm>
          <a:prstGeom prst="rect">
            <a:avLst/>
          </a:prstGeom>
          <a:noFill/>
        </p:spPr>
        <p:txBody>
          <a:bodyPr wrap="none" lIns="0" tIns="0" rIns="0" bIns="0" rtlCol="0" anchor="t"/>
          <a:lstStyle/>
          <a:p>
            <a:pPr marL="0" indent="0">
              <a:lnSpc>
                <a:spcPts val="2750"/>
              </a:lnSpc>
              <a:buNone/>
            </a:pPr>
            <a:r>
              <a:rPr lang="en-US" sz="22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The Goal</a:t>
            </a:r>
            <a:endParaRPr lang="en-US" sz="2200" dirty="0"/>
          </a:p>
        </p:txBody>
      </p:sp>
      <p:sp>
        <p:nvSpPr>
          <p:cNvPr id="6" name="Text 4"/>
          <p:cNvSpPr/>
          <p:nvPr/>
        </p:nvSpPr>
        <p:spPr>
          <a:xfrm>
            <a:off x="7614920" y="4379595"/>
            <a:ext cx="6254750" cy="1149350"/>
          </a:xfrm>
          <a:prstGeom prst="rect">
            <a:avLst/>
          </a:prstGeom>
          <a:noFill/>
        </p:spPr>
        <p:txBody>
          <a:bodyPr wrap="square" lIns="0" tIns="0" rIns="0" bIns="0" rtlCol="0" anchor="t"/>
          <a:lstStyle/>
          <a:p>
            <a:pPr marL="0" indent="0" algn="just">
              <a:lnSpc>
                <a:spcPct val="150000"/>
              </a:lnSpc>
              <a:buNone/>
            </a:pPr>
            <a:r>
              <a:rPr lang="en-US" sz="185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rPr>
              <a:t>Conduct a comprehensive analysis to identify and understand the myriad variables that significantly influence house prices.</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565" y="1622425"/>
            <a:ext cx="5632450" cy="1324610"/>
          </a:xfrm>
          <a:prstGeom prst="rect">
            <a:avLst/>
          </a:prstGeom>
          <a:noFill/>
        </p:spPr>
        <p:txBody>
          <a:bodyPr wrap="none" lIns="0" tIns="0" rIns="0" bIns="0" rtlCol="0" anchor="t"/>
          <a:lstStyle/>
          <a:p>
            <a:pPr marL="0" indent="0">
              <a:lnSpc>
                <a:spcPts val="5500"/>
              </a:lnSpc>
              <a:buNone/>
            </a:pP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S</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ituation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O</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verview</a:t>
            </a:r>
            <a:endParaRPr lang="en-US" sz="4400" dirty="0"/>
          </a:p>
        </p:txBody>
      </p:sp>
      <p:sp>
        <p:nvSpPr>
          <p:cNvPr id="4" name="Text 1"/>
          <p:cNvSpPr/>
          <p:nvPr/>
        </p:nvSpPr>
        <p:spPr>
          <a:xfrm>
            <a:off x="837565" y="3305810"/>
            <a:ext cx="7468870" cy="3060700"/>
          </a:xfrm>
          <a:prstGeom prst="rect">
            <a:avLst/>
          </a:prstGeom>
          <a:noFill/>
        </p:spPr>
        <p:txBody>
          <a:bodyPr wrap="square" lIns="0" tIns="0" rIns="0" bIns="0" rtlCol="0" anchor="t"/>
          <a:lstStyle/>
          <a:p>
            <a:pPr marL="0" indent="0" algn="just">
              <a:lnSpc>
                <a:spcPct val="150000"/>
              </a:lnSpc>
              <a:buNone/>
            </a:pPr>
            <a:r>
              <a:rPr lang="en-US" sz="185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rPr>
              <a:t>The real estate industry is inherently complex, influenced by numerous factors that collectively impact the pricing of residential properties. The task at hand is to navigate through this complexity and extract meaningful insights from the available data. As an analytics professional, you are entrusted with the responsibility to not only identify the key variables affecting house prices but also to provide actionable recommendations based on your findings.</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565" y="1315085"/>
            <a:ext cx="5632450" cy="1142365"/>
          </a:xfrm>
          <a:prstGeom prst="rect">
            <a:avLst/>
          </a:prstGeom>
          <a:noFill/>
        </p:spPr>
        <p:txBody>
          <a:bodyPr wrap="none" lIns="0" tIns="0" rIns="0" bIns="0" rtlCol="0" anchor="t"/>
          <a:lstStyle/>
          <a:p>
            <a:pPr marL="0" indent="0">
              <a:lnSpc>
                <a:spcPts val="5500"/>
              </a:lnSpc>
              <a:buNone/>
            </a:pP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D</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ataset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O</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verview</a:t>
            </a:r>
            <a:endParaRPr lang="en-US" sz="4400" dirty="0"/>
          </a:p>
        </p:txBody>
      </p:sp>
      <p:sp>
        <p:nvSpPr>
          <p:cNvPr id="4" name="Text 1"/>
          <p:cNvSpPr/>
          <p:nvPr/>
        </p:nvSpPr>
        <p:spPr>
          <a:xfrm>
            <a:off x="562610" y="3367405"/>
            <a:ext cx="7973695" cy="2236470"/>
          </a:xfrm>
          <a:prstGeom prst="rect">
            <a:avLst/>
          </a:prstGeom>
          <a:noFill/>
        </p:spPr>
        <p:txBody>
          <a:bodyPr wrap="square" lIns="0" tIns="0" rIns="0" bIns="0" rtlCol="0" anchor="t"/>
          <a:lstStyle/>
          <a:p>
            <a:pPr marL="0" indent="0" algn="just">
              <a:lnSpc>
                <a:spcPct val="150000"/>
              </a:lnSpc>
              <a:buNone/>
            </a:pPr>
            <a:r>
              <a:rPr lang="en-US" sz="185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rPr>
              <a:t>The dataset at your disposal comprises diverse parameters such as location, size, amenities, market trends, economic indicators, and historical transaction data. These variables contribute to the intricate web of pricing dynamics, and your role is to unravel their interdependencies through meticulous analysis.</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565" y="1422400"/>
            <a:ext cx="6627495" cy="923290"/>
          </a:xfrm>
          <a:prstGeom prst="rect">
            <a:avLst/>
          </a:prstGeom>
          <a:noFill/>
        </p:spPr>
        <p:txBody>
          <a:bodyPr wrap="none" lIns="0" tIns="0" rIns="0" bIns="0" rtlCol="0" anchor="t"/>
          <a:lstStyle/>
          <a:p>
            <a:pPr marL="0" indent="0">
              <a:lnSpc>
                <a:spcPts val="5500"/>
              </a:lnSpc>
              <a:buNone/>
            </a:pP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T</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he Importance of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E</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DA</a:t>
            </a:r>
            <a:endParaRPr lang="en-US" sz="4400" dirty="0"/>
          </a:p>
        </p:txBody>
      </p:sp>
      <p:sp>
        <p:nvSpPr>
          <p:cNvPr id="4" name="Text 1"/>
          <p:cNvSpPr/>
          <p:nvPr/>
        </p:nvSpPr>
        <p:spPr>
          <a:xfrm>
            <a:off x="837565" y="3405505"/>
            <a:ext cx="7468870" cy="2883535"/>
          </a:xfrm>
          <a:prstGeom prst="rect">
            <a:avLst/>
          </a:prstGeom>
          <a:noFill/>
        </p:spPr>
        <p:txBody>
          <a:bodyPr wrap="square" lIns="0" tIns="0" rIns="0" bIns="0" rtlCol="0" anchor="t"/>
          <a:lstStyle/>
          <a:p>
            <a:pPr marL="0" indent="0" algn="just">
              <a:lnSpc>
                <a:spcPct val="150000"/>
              </a:lnSpc>
              <a:buNone/>
            </a:pPr>
            <a:r>
              <a:rPr lang="en-US" sz="185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rPr>
              <a:t>EDA is indispensable in extracting actionable insights from raw data, especially in domains like real estate where numerous factors contribute to the final property value. Through EDA, we can identify key variables that significantly impact house prices, allowing us to tailor pricing strategies, enhance customer satisfaction, and gain a competitive edge in the market.</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7724" y="666869"/>
            <a:ext cx="8943142" cy="704017"/>
          </a:xfrm>
          <a:prstGeom prst="rect">
            <a:avLst/>
          </a:prstGeom>
          <a:noFill/>
        </p:spPr>
        <p:txBody>
          <a:bodyPr wrap="none" lIns="0" tIns="0" rIns="0" bIns="0" rtlCol="0" anchor="t"/>
          <a:lstStyle/>
          <a:p>
            <a:pPr marL="0" indent="0">
              <a:lnSpc>
                <a:spcPts val="5500"/>
              </a:lnSpc>
              <a:buNone/>
            </a:pP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S</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teps in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E</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DA  for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R</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eal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E</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state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P</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ricing</a:t>
            </a:r>
            <a:endParaRPr lang="en-US" sz="4400" dirty="0"/>
          </a:p>
        </p:txBody>
      </p:sp>
      <p:sp>
        <p:nvSpPr>
          <p:cNvPr id="3" name="Shape 1"/>
          <p:cNvSpPr/>
          <p:nvPr/>
        </p:nvSpPr>
        <p:spPr>
          <a:xfrm>
            <a:off x="837724" y="2118836"/>
            <a:ext cx="538520" cy="538520"/>
          </a:xfrm>
          <a:prstGeom prst="roundRect">
            <a:avLst>
              <a:gd name="adj" fmla="val 6668"/>
            </a:avLst>
          </a:prstGeom>
          <a:solidFill>
            <a:srgbClr val="F3E8E8"/>
          </a:solidFill>
        </p:spPr>
      </p:sp>
      <p:sp>
        <p:nvSpPr>
          <p:cNvPr id="4" name="Text 2"/>
          <p:cNvSpPr/>
          <p:nvPr/>
        </p:nvSpPr>
        <p:spPr>
          <a:xfrm>
            <a:off x="1055013" y="2219087"/>
            <a:ext cx="103823" cy="337899"/>
          </a:xfrm>
          <a:prstGeom prst="rect">
            <a:avLst/>
          </a:prstGeom>
          <a:noFill/>
        </p:spPr>
        <p:txBody>
          <a:bodyPr wrap="none" lIns="0" tIns="0" rIns="0" bIns="0" rtlCol="0" anchor="t"/>
          <a:lstStyle/>
          <a:p>
            <a:pPr marL="0" indent="0" algn="ctr">
              <a:lnSpc>
                <a:spcPts val="2650"/>
              </a:lnSpc>
              <a:buNone/>
            </a:pPr>
            <a:r>
              <a:rPr lang="en-US" sz="2650" dirty="0">
                <a:solidFill>
                  <a:srgbClr val="3B3535"/>
                </a:solidFill>
                <a:latin typeface="Red Hat Text" panose="02010303040201060303" pitchFamily="34" charset="0"/>
                <a:ea typeface="Red Hat Text" panose="02010303040201060303" pitchFamily="34" charset="-122"/>
                <a:cs typeface="Red Hat Text" panose="02010303040201060303" pitchFamily="34" charset="-120"/>
              </a:rPr>
              <a:t>1</a:t>
            </a:r>
            <a:endParaRPr lang="en-US" sz="2650" dirty="0"/>
          </a:p>
        </p:txBody>
      </p:sp>
      <p:sp>
        <p:nvSpPr>
          <p:cNvPr id="5" name="Text 3"/>
          <p:cNvSpPr/>
          <p:nvPr/>
        </p:nvSpPr>
        <p:spPr>
          <a:xfrm>
            <a:off x="1615559" y="2118836"/>
            <a:ext cx="3380899" cy="703898"/>
          </a:xfrm>
          <a:prstGeom prst="rect">
            <a:avLst/>
          </a:prstGeom>
          <a:noFill/>
        </p:spPr>
        <p:txBody>
          <a:bodyPr wrap="square" lIns="0" tIns="0" rIns="0" bIns="0" rtlCol="0" anchor="t"/>
          <a:lstStyle/>
          <a:p>
            <a:pPr marL="0" indent="0">
              <a:lnSpc>
                <a:spcPts val="2750"/>
              </a:lnSpc>
              <a:buNone/>
            </a:pPr>
            <a:r>
              <a:rPr lang="en-US" sz="2200" dirty="0">
                <a:solidFill>
                  <a:srgbClr val="3B3535"/>
                </a:solidFill>
                <a:latin typeface="Red Hat Text" panose="02010303040201060303" pitchFamily="34" charset="0"/>
                <a:ea typeface="Red Hat Text" panose="02010303040201060303" pitchFamily="34" charset="-122"/>
                <a:cs typeface="Red Hat Text" panose="02010303040201060303" pitchFamily="34" charset="-120"/>
              </a:rPr>
              <a:t>Feature Engineering and Size Impact</a:t>
            </a:r>
            <a:endParaRPr lang="en-US" sz="2200" dirty="0"/>
          </a:p>
        </p:txBody>
      </p:sp>
      <p:sp>
        <p:nvSpPr>
          <p:cNvPr id="6" name="Text 4"/>
          <p:cNvSpPr/>
          <p:nvPr/>
        </p:nvSpPr>
        <p:spPr>
          <a:xfrm>
            <a:off x="1615559" y="2966323"/>
            <a:ext cx="3380899" cy="3447217"/>
          </a:xfrm>
          <a:prstGeom prst="rect">
            <a:avLst/>
          </a:prstGeom>
          <a:noFill/>
        </p:spPr>
        <p:txBody>
          <a:bodyPr wrap="square" lIns="0" tIns="0" rIns="0" bIns="0" rtlCol="0" anchor="t"/>
          <a:lstStyle/>
          <a:p>
            <a:pPr marL="0" indent="0" algn="just">
              <a:lnSpc>
                <a:spcPts val="3000"/>
              </a:lnSpc>
              <a:buNone/>
            </a:pPr>
            <a:r>
              <a:rPr lang="en-US" sz="185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rPr>
              <a:t>Engineer new features capturing relevant information such as price per square foot or the age of the property. Visualize the relationship between key features like bedrooms, bathrooms, and square footage with house prices, determining their impact on valuation.</a:t>
            </a:r>
            <a:endParaRPr lang="en-US" sz="1850" dirty="0"/>
          </a:p>
        </p:txBody>
      </p:sp>
      <p:sp>
        <p:nvSpPr>
          <p:cNvPr id="7" name="Shape 5"/>
          <p:cNvSpPr/>
          <p:nvPr/>
        </p:nvSpPr>
        <p:spPr>
          <a:xfrm>
            <a:off x="5235773" y="2118836"/>
            <a:ext cx="538520" cy="538520"/>
          </a:xfrm>
          <a:prstGeom prst="roundRect">
            <a:avLst>
              <a:gd name="adj" fmla="val 6668"/>
            </a:avLst>
          </a:prstGeom>
          <a:solidFill>
            <a:srgbClr val="F3E8E8"/>
          </a:solidFill>
        </p:spPr>
      </p:sp>
      <p:sp>
        <p:nvSpPr>
          <p:cNvPr id="8" name="Text 6"/>
          <p:cNvSpPr/>
          <p:nvPr/>
        </p:nvSpPr>
        <p:spPr>
          <a:xfrm>
            <a:off x="5403652" y="2219087"/>
            <a:ext cx="202763" cy="337899"/>
          </a:xfrm>
          <a:prstGeom prst="rect">
            <a:avLst/>
          </a:prstGeom>
          <a:noFill/>
        </p:spPr>
        <p:txBody>
          <a:bodyPr wrap="none" lIns="0" tIns="0" rIns="0" bIns="0" rtlCol="0" anchor="t"/>
          <a:lstStyle/>
          <a:p>
            <a:pPr marL="0" indent="0" algn="ctr">
              <a:lnSpc>
                <a:spcPts val="2650"/>
              </a:lnSpc>
              <a:buNone/>
            </a:pPr>
            <a:r>
              <a:rPr lang="en-US" sz="2650" dirty="0">
                <a:solidFill>
                  <a:srgbClr val="3B3535"/>
                </a:solidFill>
                <a:latin typeface="Red Hat Text" panose="02010303040201060303" pitchFamily="34" charset="0"/>
                <a:ea typeface="Red Hat Text" panose="02010303040201060303" pitchFamily="34" charset="-122"/>
                <a:cs typeface="Red Hat Text" panose="02010303040201060303" pitchFamily="34" charset="-120"/>
              </a:rPr>
              <a:t>2</a:t>
            </a:r>
            <a:endParaRPr lang="en-US" sz="2650" dirty="0"/>
          </a:p>
        </p:txBody>
      </p:sp>
      <p:sp>
        <p:nvSpPr>
          <p:cNvPr id="9" name="Text 7"/>
          <p:cNvSpPr/>
          <p:nvPr/>
        </p:nvSpPr>
        <p:spPr>
          <a:xfrm>
            <a:off x="6013609" y="2118836"/>
            <a:ext cx="3380899" cy="703898"/>
          </a:xfrm>
          <a:prstGeom prst="rect">
            <a:avLst/>
          </a:prstGeom>
          <a:noFill/>
        </p:spPr>
        <p:txBody>
          <a:bodyPr wrap="square" lIns="0" tIns="0" rIns="0" bIns="0" rtlCol="0" anchor="t"/>
          <a:lstStyle/>
          <a:p>
            <a:pPr marL="0" indent="0">
              <a:lnSpc>
                <a:spcPts val="2750"/>
              </a:lnSpc>
              <a:buNone/>
            </a:pPr>
            <a:r>
              <a:rPr lang="en-US" sz="2200" dirty="0">
                <a:solidFill>
                  <a:srgbClr val="3B3535"/>
                </a:solidFill>
                <a:latin typeface="Red Hat Text" panose="02010303040201060303" pitchFamily="34" charset="0"/>
                <a:ea typeface="Red Hat Text" panose="02010303040201060303" pitchFamily="34" charset="-122"/>
                <a:cs typeface="Red Hat Text" panose="02010303040201060303" pitchFamily="34" charset="-120"/>
              </a:rPr>
              <a:t>Market Trends and Historical Pricing</a:t>
            </a:r>
            <a:endParaRPr lang="en-US" sz="2200" dirty="0"/>
          </a:p>
        </p:txBody>
      </p:sp>
      <p:sp>
        <p:nvSpPr>
          <p:cNvPr id="10" name="Text 8"/>
          <p:cNvSpPr/>
          <p:nvPr/>
        </p:nvSpPr>
        <p:spPr>
          <a:xfrm>
            <a:off x="6013609" y="2966323"/>
            <a:ext cx="3380899" cy="3064193"/>
          </a:xfrm>
          <a:prstGeom prst="rect">
            <a:avLst/>
          </a:prstGeom>
          <a:noFill/>
        </p:spPr>
        <p:txBody>
          <a:bodyPr wrap="square" lIns="0" tIns="0" rIns="0" bIns="0" rtlCol="0" anchor="t"/>
          <a:lstStyle/>
          <a:p>
            <a:pPr marL="0" indent="0" algn="just">
              <a:lnSpc>
                <a:spcPts val="3000"/>
              </a:lnSpc>
              <a:buNone/>
            </a:pPr>
            <a:r>
              <a:rPr lang="en-US" sz="185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rPr>
              <a:t>Analyze historical pricing trends over time, considering external factors like economic indicators. Create time-series visualizations to understand how market trends influence house prices, helping predict future valuation trends.</a:t>
            </a:r>
            <a:endParaRPr lang="en-US" sz="1850" dirty="0"/>
          </a:p>
        </p:txBody>
      </p:sp>
      <p:sp>
        <p:nvSpPr>
          <p:cNvPr id="11" name="Shape 9"/>
          <p:cNvSpPr/>
          <p:nvPr/>
        </p:nvSpPr>
        <p:spPr>
          <a:xfrm>
            <a:off x="9633823" y="2118836"/>
            <a:ext cx="538520" cy="538520"/>
          </a:xfrm>
          <a:prstGeom prst="roundRect">
            <a:avLst>
              <a:gd name="adj" fmla="val 6668"/>
            </a:avLst>
          </a:prstGeom>
          <a:solidFill>
            <a:srgbClr val="F3E8E8"/>
          </a:solidFill>
        </p:spPr>
      </p:sp>
      <p:sp>
        <p:nvSpPr>
          <p:cNvPr id="12" name="Text 10"/>
          <p:cNvSpPr/>
          <p:nvPr/>
        </p:nvSpPr>
        <p:spPr>
          <a:xfrm>
            <a:off x="9801701" y="2219087"/>
            <a:ext cx="202763" cy="337899"/>
          </a:xfrm>
          <a:prstGeom prst="rect">
            <a:avLst/>
          </a:prstGeom>
          <a:noFill/>
        </p:spPr>
        <p:txBody>
          <a:bodyPr wrap="none" lIns="0" tIns="0" rIns="0" bIns="0" rtlCol="0" anchor="t"/>
          <a:lstStyle/>
          <a:p>
            <a:pPr marL="0" indent="0" algn="ctr">
              <a:lnSpc>
                <a:spcPts val="2650"/>
              </a:lnSpc>
              <a:buNone/>
            </a:pPr>
            <a:r>
              <a:rPr lang="en-US" sz="2650" dirty="0">
                <a:solidFill>
                  <a:srgbClr val="3B3535"/>
                </a:solidFill>
                <a:latin typeface="Red Hat Text" panose="02010303040201060303" pitchFamily="34" charset="0"/>
                <a:ea typeface="Red Hat Text" panose="02010303040201060303" pitchFamily="34" charset="-122"/>
                <a:cs typeface="Red Hat Text" panose="02010303040201060303" pitchFamily="34" charset="-120"/>
              </a:rPr>
              <a:t>3</a:t>
            </a:r>
            <a:endParaRPr lang="en-US" sz="2650" dirty="0"/>
          </a:p>
        </p:txBody>
      </p:sp>
      <p:sp>
        <p:nvSpPr>
          <p:cNvPr id="13" name="Text 11"/>
          <p:cNvSpPr/>
          <p:nvPr/>
        </p:nvSpPr>
        <p:spPr>
          <a:xfrm>
            <a:off x="10411658" y="2118836"/>
            <a:ext cx="3380899" cy="703898"/>
          </a:xfrm>
          <a:prstGeom prst="rect">
            <a:avLst/>
          </a:prstGeom>
          <a:noFill/>
        </p:spPr>
        <p:txBody>
          <a:bodyPr wrap="square" lIns="0" tIns="0" rIns="0" bIns="0" rtlCol="0" anchor="t"/>
          <a:lstStyle/>
          <a:p>
            <a:pPr marL="0" indent="0">
              <a:lnSpc>
                <a:spcPts val="2750"/>
              </a:lnSpc>
              <a:buNone/>
            </a:pPr>
            <a:r>
              <a:rPr lang="en-US" sz="2200" dirty="0">
                <a:solidFill>
                  <a:srgbClr val="3B3535"/>
                </a:solidFill>
                <a:latin typeface="Red Hat Text" panose="02010303040201060303" pitchFamily="34" charset="0"/>
                <a:ea typeface="Red Hat Text" panose="02010303040201060303" pitchFamily="34" charset="-122"/>
                <a:cs typeface="Red Hat Text" panose="02010303040201060303" pitchFamily="34" charset="-120"/>
              </a:rPr>
              <a:t>Customer Preferences and Amenities</a:t>
            </a:r>
            <a:endParaRPr lang="en-US" sz="2200" dirty="0"/>
          </a:p>
        </p:txBody>
      </p:sp>
      <p:sp>
        <p:nvSpPr>
          <p:cNvPr id="14" name="Text 12"/>
          <p:cNvSpPr/>
          <p:nvPr/>
        </p:nvSpPr>
        <p:spPr>
          <a:xfrm>
            <a:off x="10411658" y="2966323"/>
            <a:ext cx="3380899" cy="4596289"/>
          </a:xfrm>
          <a:prstGeom prst="rect">
            <a:avLst/>
          </a:prstGeom>
          <a:noFill/>
        </p:spPr>
        <p:txBody>
          <a:bodyPr wrap="square" lIns="0" tIns="0" rIns="0" bIns="0" rtlCol="0" anchor="t"/>
          <a:lstStyle/>
          <a:p>
            <a:pPr marL="0" indent="0" algn="just">
              <a:lnSpc>
                <a:spcPts val="3000"/>
              </a:lnSpc>
              <a:buNone/>
            </a:pPr>
            <a:r>
              <a:rPr lang="en-US" sz="185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rPr>
              <a:t>Explore the influence of customer preferences and amenities on house prices. Utilize sentiment analysis on customer feedback to gauge the perceived value of specific features. Apply clustering algorithms to group houses with similar amenity profiles, revealing distinct market segments and pricing strategies.</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205740" y="1090295"/>
            <a:ext cx="8537575" cy="1374140"/>
          </a:xfrm>
          <a:prstGeom prst="rect">
            <a:avLst/>
          </a:prstGeom>
          <a:noFill/>
        </p:spPr>
        <p:txBody>
          <a:bodyPr wrap="square" lIns="0" tIns="0" rIns="0" bIns="0" rtlCol="0" anchor="t"/>
          <a:lstStyle/>
          <a:p>
            <a:pPr marL="0" indent="0">
              <a:lnSpc>
                <a:spcPts val="5500"/>
              </a:lnSpc>
              <a:buNone/>
            </a:pP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L</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oading and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C</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leaning the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D</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ata</a:t>
            </a:r>
            <a:endParaRPr lang="en-US" sz="4400" dirty="0"/>
          </a:p>
        </p:txBody>
      </p:sp>
      <p:sp>
        <p:nvSpPr>
          <p:cNvPr id="4" name="Text 1"/>
          <p:cNvSpPr/>
          <p:nvPr/>
        </p:nvSpPr>
        <p:spPr>
          <a:xfrm>
            <a:off x="222885" y="3340100"/>
            <a:ext cx="8545830" cy="2615565"/>
          </a:xfrm>
          <a:prstGeom prst="rect">
            <a:avLst/>
          </a:prstGeom>
          <a:noFill/>
        </p:spPr>
        <p:txBody>
          <a:bodyPr wrap="square" lIns="0" tIns="0" rIns="0" bIns="0" rtlCol="0" anchor="t"/>
          <a:lstStyle/>
          <a:p>
            <a:pPr marL="0" indent="0" algn="just">
              <a:lnSpc>
                <a:spcPct val="150000"/>
              </a:lnSpc>
              <a:buNone/>
            </a:pPr>
            <a:r>
              <a:rPr lang="en-US" sz="200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rPr>
              <a:t>The first step in our EDA journey is to load the real estate pricing dataset into a Pandas DataFrame. This allows us to easily manipulate and analyze the data. We then need to clean the dataset by handling missing values, removing duplicates, and addressing any anomalies. This ensures data quality and accuracy for our subsequent analysis.</a:t>
            </a:r>
            <a:endParaRPr lang="en-US" sz="200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3965" y="1258570"/>
            <a:ext cx="7744460" cy="2040255"/>
          </a:xfrm>
          <a:prstGeom prst="rect">
            <a:avLst/>
          </a:prstGeom>
          <a:noFill/>
        </p:spPr>
        <p:txBody>
          <a:bodyPr wrap="square" lIns="0" tIns="0" rIns="0" bIns="0" rtlCol="0" anchor="t"/>
          <a:lstStyle/>
          <a:p>
            <a:pPr marL="0" indent="0">
              <a:lnSpc>
                <a:spcPts val="5500"/>
              </a:lnSpc>
              <a:buNone/>
            </a:pP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U</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nivariate and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M</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ultivariate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A</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nalysis</a:t>
            </a:r>
            <a:endParaRPr lang="en-US" sz="4400" dirty="0"/>
          </a:p>
        </p:txBody>
      </p:sp>
      <p:sp>
        <p:nvSpPr>
          <p:cNvPr id="4" name="Text 1"/>
          <p:cNvSpPr/>
          <p:nvPr/>
        </p:nvSpPr>
        <p:spPr>
          <a:xfrm>
            <a:off x="6323965" y="3657600"/>
            <a:ext cx="7728585" cy="3220085"/>
          </a:xfrm>
          <a:prstGeom prst="rect">
            <a:avLst/>
          </a:prstGeom>
          <a:noFill/>
        </p:spPr>
        <p:txBody>
          <a:bodyPr wrap="square" lIns="0" tIns="0" rIns="0" bIns="0" rtlCol="0" anchor="t"/>
          <a:lstStyle/>
          <a:p>
            <a:pPr marL="0" indent="0" algn="just">
              <a:lnSpc>
                <a:spcPts val="3000"/>
              </a:lnSpc>
              <a:buNone/>
            </a:pPr>
            <a:r>
              <a:rPr lang="en-US" sz="1850" dirty="0">
                <a:solidFill>
                  <a:schemeClr val="accent2"/>
                </a:solidFill>
                <a:latin typeface="Roboto Light" panose="02000000000000000000" pitchFamily="34" charset="0"/>
                <a:ea typeface="Roboto Light" panose="02000000000000000000" pitchFamily="34" charset="-122"/>
                <a:cs typeface="Roboto Light" panose="02000000000000000000" pitchFamily="34" charset="-120"/>
              </a:rPr>
              <a:t>O</a:t>
            </a:r>
            <a:r>
              <a:rPr lang="en-US" sz="185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rPr>
              <a:t>nce the data is loaded and cleaned, we perform univariate analysis to understand the distribution of key variables like house prices. We utilize histograms, kernel density plots, or other visualizations to gain insights into the data. Next, we conduct multivariate analysis to understand the correlations and dependencies between various features. We utilize techniques like correlation matrices or scatterplot matrices for a comprehensive view.</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034405" y="1074420"/>
            <a:ext cx="8206105" cy="1672590"/>
          </a:xfrm>
          <a:prstGeom prst="rect">
            <a:avLst/>
          </a:prstGeom>
          <a:noFill/>
        </p:spPr>
        <p:txBody>
          <a:bodyPr wrap="square" lIns="0" tIns="0" rIns="0" bIns="0" rtlCol="0" anchor="t"/>
          <a:lstStyle/>
          <a:p>
            <a:pPr marL="0" indent="0">
              <a:lnSpc>
                <a:spcPts val="5500"/>
              </a:lnSpc>
              <a:buNone/>
            </a:pP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F</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eature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E</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ngineering and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S</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ize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I</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mpact</a:t>
            </a:r>
            <a:endParaRPr lang="en-US" sz="4400" dirty="0"/>
          </a:p>
        </p:txBody>
      </p:sp>
      <p:sp>
        <p:nvSpPr>
          <p:cNvPr id="4" name="Text 1"/>
          <p:cNvSpPr/>
          <p:nvPr/>
        </p:nvSpPr>
        <p:spPr>
          <a:xfrm>
            <a:off x="6013450" y="3864610"/>
            <a:ext cx="8195310" cy="2198370"/>
          </a:xfrm>
          <a:prstGeom prst="rect">
            <a:avLst/>
          </a:prstGeom>
          <a:noFill/>
        </p:spPr>
        <p:txBody>
          <a:bodyPr wrap="square" lIns="0" tIns="0" rIns="0" bIns="0" rtlCol="0" anchor="t"/>
          <a:lstStyle/>
          <a:p>
            <a:pPr marL="0" indent="0" algn="just">
              <a:lnSpc>
                <a:spcPct val="150000"/>
              </a:lnSpc>
              <a:buNone/>
            </a:pPr>
            <a:r>
              <a:rPr lang="en-US" sz="200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rPr>
              <a:t>We further analyze the impact of features and size on house prices. We explore relationships between key features (e.g., number of bedrooms, bathrooms, square footage) and house prices. We identify how these features collectively contribute to the valuation.</a:t>
            </a:r>
            <a:endParaRPr lang="en-US" sz="200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5715635" y="1131570"/>
            <a:ext cx="8468360" cy="1982470"/>
          </a:xfrm>
          <a:prstGeom prst="rect">
            <a:avLst/>
          </a:prstGeom>
          <a:noFill/>
        </p:spPr>
        <p:txBody>
          <a:bodyPr wrap="square" lIns="0" tIns="0" rIns="0" bIns="0" rtlCol="0" anchor="t"/>
          <a:lstStyle/>
          <a:p>
            <a:pPr marL="0" indent="0">
              <a:lnSpc>
                <a:spcPts val="5500"/>
              </a:lnSpc>
              <a:buNone/>
            </a:pP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M</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arket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T</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rends and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H</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istorical </a:t>
            </a:r>
            <a:r>
              <a:rPr lang="en-US" sz="4400" dirty="0">
                <a:solidFill>
                  <a:schemeClr val="accent2"/>
                </a:solidFill>
                <a:latin typeface="Red Hat Text" panose="02010303040201060303" pitchFamily="34" charset="0"/>
                <a:ea typeface="Red Hat Text" panose="02010303040201060303" pitchFamily="34" charset="-122"/>
                <a:cs typeface="Red Hat Text" panose="02010303040201060303" pitchFamily="34" charset="-120"/>
              </a:rPr>
              <a:t>P</a:t>
            </a:r>
            <a:r>
              <a:rPr lang="en-US" sz="4400" dirty="0">
                <a:solidFill>
                  <a:srgbClr val="1F1E1E"/>
                </a:solidFill>
                <a:latin typeface="Red Hat Text" panose="02010303040201060303" pitchFamily="34" charset="0"/>
                <a:ea typeface="Red Hat Text" panose="02010303040201060303" pitchFamily="34" charset="-122"/>
                <a:cs typeface="Red Hat Text" panose="02010303040201060303" pitchFamily="34" charset="-120"/>
              </a:rPr>
              <a:t>ricing</a:t>
            </a:r>
            <a:endParaRPr lang="en-US" sz="4400" dirty="0"/>
          </a:p>
        </p:txBody>
      </p:sp>
      <p:sp>
        <p:nvSpPr>
          <p:cNvPr id="4" name="Text 1"/>
          <p:cNvSpPr/>
          <p:nvPr/>
        </p:nvSpPr>
        <p:spPr>
          <a:xfrm>
            <a:off x="5702300" y="4114165"/>
            <a:ext cx="8430895" cy="2029460"/>
          </a:xfrm>
          <a:prstGeom prst="rect">
            <a:avLst/>
          </a:prstGeom>
          <a:noFill/>
        </p:spPr>
        <p:txBody>
          <a:bodyPr wrap="square" lIns="0" tIns="0" rIns="0" bIns="0" rtlCol="0" anchor="t"/>
          <a:lstStyle/>
          <a:p>
            <a:pPr marL="0" indent="0" algn="just">
              <a:lnSpc>
                <a:spcPct val="150000"/>
              </a:lnSpc>
              <a:buNone/>
            </a:pPr>
            <a:r>
              <a:rPr lang="en-US" sz="1850" dirty="0">
                <a:solidFill>
                  <a:srgbClr val="3B3535"/>
                </a:solidFill>
                <a:latin typeface="Roboto Light" panose="02000000000000000000" pitchFamily="34" charset="0"/>
                <a:ea typeface="Roboto Light" panose="02000000000000000000" pitchFamily="34" charset="-122"/>
                <a:cs typeface="Roboto Light" panose="02000000000000000000" pitchFamily="34" charset="-120"/>
              </a:rPr>
              <a:t>We analyze the dataset temporally, looking at trends in house prices over different periods. We understand how external factors, such as economic indicators, may have influenced these trends. This helps us predict future valuation trends and make informed decisions.</a:t>
            </a:r>
            <a:endParaRPr lang="en-US" sz="1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2005965" y="156210"/>
            <a:ext cx="9532620" cy="727710"/>
          </a:xfrm>
          <a:prstGeom prst="rect">
            <a:avLst/>
          </a:prstGeom>
          <a:noFill/>
        </p:spPr>
        <p:txBody>
          <a:bodyPr wrap="square" rtlCol="0">
            <a:noAutofit/>
          </a:bodyPr>
          <a:p>
            <a:r>
              <a:rPr lang="en-US"/>
              <a:t>                                 </a:t>
            </a:r>
            <a:r>
              <a:rPr lang="en-US">
                <a:solidFill>
                  <a:schemeClr val="accent2"/>
                </a:solidFill>
              </a:rPr>
              <a:t>  </a:t>
            </a:r>
            <a:r>
              <a:rPr lang="en-US" sz="4400">
                <a:solidFill>
                  <a:schemeClr val="accent2"/>
                </a:solidFill>
                <a:latin typeface="Bahnschrift SemiBold" panose="020B0502040204020203" charset="0"/>
                <a:cs typeface="Bahnschrift SemiBold" panose="020B0502040204020203" charset="0"/>
              </a:rPr>
              <a:t>C</a:t>
            </a:r>
            <a:r>
              <a:rPr lang="en-US" sz="4400">
                <a:latin typeface="Bahnschrift SemiBold" panose="020B0502040204020203" charset="0"/>
                <a:cs typeface="Bahnschrift SemiBold" panose="020B0502040204020203" charset="0"/>
              </a:rPr>
              <a:t> O N C L U S I O N !</a:t>
            </a:r>
            <a:endParaRPr lang="en-US" sz="4400">
              <a:latin typeface="Bahnschrift SemiBold" panose="020B0502040204020203" charset="0"/>
              <a:cs typeface="Bahnschrift SemiBold" panose="020B0502040204020203" charset="0"/>
            </a:endParaRPr>
          </a:p>
        </p:txBody>
      </p:sp>
      <p:sp>
        <p:nvSpPr>
          <p:cNvPr id="4" name="Text Box 3"/>
          <p:cNvSpPr txBox="1"/>
          <p:nvPr/>
        </p:nvSpPr>
        <p:spPr>
          <a:xfrm>
            <a:off x="518795" y="2053590"/>
            <a:ext cx="12101830" cy="5574030"/>
          </a:xfrm>
          <a:prstGeom prst="rect">
            <a:avLst/>
          </a:prstGeom>
          <a:noFill/>
        </p:spPr>
        <p:txBody>
          <a:bodyPr wrap="square" rtlCol="0">
            <a:noAutofit/>
          </a:bodyPr>
          <a:p>
            <a:r>
              <a:rPr lang="en-US" sz="2400">
                <a:latin typeface="Bahnschrift SemiBold" panose="020B0502040204020203" charset="0"/>
                <a:cs typeface="Bahnschrift SemiBold" panose="020B0502040204020203" charset="0"/>
              </a:rPr>
              <a:t>In conclusion, this house prediction project demonstrate the power of machine learning in acuretlly </a:t>
            </a:r>
            <a:endParaRPr lang="en-US" sz="2400">
              <a:latin typeface="Bahnschrift SemiBold" panose="020B0502040204020203" charset="0"/>
              <a:cs typeface="Bahnschrift SemiBold" panose="020B0502040204020203" charset="0"/>
            </a:endParaRPr>
          </a:p>
          <a:p>
            <a:endParaRPr lang="en-US" sz="2400">
              <a:latin typeface="Bahnschrift SemiBold" panose="020B0502040204020203" charset="0"/>
              <a:cs typeface="Bahnschrift SemiBold" panose="020B0502040204020203" charset="0"/>
            </a:endParaRPr>
          </a:p>
          <a:p>
            <a:r>
              <a:rPr lang="en-US" sz="2400">
                <a:latin typeface="Bahnschrift SemiBold" panose="020B0502040204020203" charset="0"/>
                <a:cs typeface="Bahnschrift SemiBold" panose="020B0502040204020203" charset="0"/>
              </a:rPr>
              <a:t>predicting propery price based on various feature such as location size and amenities .</a:t>
            </a:r>
            <a:endParaRPr lang="en-US" sz="2400">
              <a:latin typeface="Bahnschrift SemiBold" panose="020B0502040204020203" charset="0"/>
              <a:cs typeface="Bahnschrift SemiBold" panose="020B0502040204020203" charset="0"/>
            </a:endParaRPr>
          </a:p>
          <a:p>
            <a:endParaRPr lang="en-US" sz="2400">
              <a:latin typeface="Bahnschrift SemiBold" panose="020B0502040204020203" charset="0"/>
              <a:cs typeface="Bahnschrift SemiBold" panose="020B0502040204020203" charset="0"/>
            </a:endParaRPr>
          </a:p>
          <a:p>
            <a:r>
              <a:rPr lang="en-US" sz="2400">
                <a:latin typeface="Bahnschrift SemiBold" panose="020B0502040204020203" charset="0"/>
                <a:cs typeface="Bahnschrift SemiBold" panose="020B0502040204020203" charset="0"/>
              </a:rPr>
              <a:t>Through data preprocessing, model tarining and evaluation we successfully build a prodective model </a:t>
            </a:r>
            <a:endParaRPr lang="en-US" sz="2400">
              <a:latin typeface="Bahnschrift SemiBold" panose="020B0502040204020203" charset="0"/>
              <a:cs typeface="Bahnschrift SemiBold" panose="020B0502040204020203" charset="0"/>
            </a:endParaRPr>
          </a:p>
          <a:p>
            <a:endParaRPr lang="en-US" sz="2400">
              <a:latin typeface="Bahnschrift SemiBold" panose="020B0502040204020203" charset="0"/>
              <a:cs typeface="Bahnschrift SemiBold" panose="020B0502040204020203" charset="0"/>
            </a:endParaRPr>
          </a:p>
          <a:p>
            <a:r>
              <a:rPr lang="en-US" sz="2400">
                <a:latin typeface="Bahnschrift SemiBold" panose="020B0502040204020203" charset="0"/>
                <a:cs typeface="Bahnschrift SemiBold" panose="020B0502040204020203" charset="0"/>
              </a:rPr>
              <a:t>that can be applied in real world housing marketing scenerio. This result highlight the importance of </a:t>
            </a:r>
            <a:endParaRPr lang="en-US" sz="2400">
              <a:latin typeface="Bahnschrift SemiBold" panose="020B0502040204020203" charset="0"/>
              <a:cs typeface="Bahnschrift SemiBold" panose="020B0502040204020203" charset="0"/>
            </a:endParaRPr>
          </a:p>
          <a:p>
            <a:endParaRPr lang="en-US" sz="2400">
              <a:latin typeface="Bahnschrift SemiBold" panose="020B0502040204020203" charset="0"/>
              <a:cs typeface="Bahnschrift SemiBold" panose="020B0502040204020203" charset="0"/>
            </a:endParaRPr>
          </a:p>
          <a:p>
            <a:r>
              <a:rPr lang="en-US" sz="2400">
                <a:latin typeface="Bahnschrift SemiBold" panose="020B0502040204020203" charset="0"/>
                <a:cs typeface="Bahnschrift SemiBold" panose="020B0502040204020203" charset="0"/>
              </a:rPr>
              <a:t>feature selection and model evalution in improving prediction model accurecy.</a:t>
            </a:r>
            <a:endParaRPr lang="en-US" sz="2400">
              <a:latin typeface="Bahnschrift SemiBold" panose="020B0502040204020203" charset="0"/>
              <a:cs typeface="Bahnschrift SemiBold" panose="020B0502040204020203" charset="0"/>
            </a:endParaRPr>
          </a:p>
          <a:p>
            <a:endParaRPr lang="en-US" sz="2400">
              <a:latin typeface="Bahnschrift SemiBold" panose="020B0502040204020203" charset="0"/>
              <a:cs typeface="Bahnschrift SemiBold" panose="020B0502040204020203" charset="0"/>
            </a:endParaRPr>
          </a:p>
          <a:p>
            <a:endParaRPr lang="en-US" sz="2400">
              <a:latin typeface="Bahnschrift SemiBold" panose="020B0502040204020203" charset="0"/>
              <a:cs typeface="Bahnschrift SemiBold" panose="020B0502040204020203" charset="0"/>
            </a:endParaRPr>
          </a:p>
          <a:p>
            <a:r>
              <a:rPr lang="en-US" sz="2400">
                <a:solidFill>
                  <a:schemeClr val="accent6"/>
                </a:solidFill>
                <a:latin typeface="Bahnschrift SemiBold" panose="020B0502040204020203" charset="0"/>
                <a:cs typeface="Bahnschrift SemiBold" panose="020B0502040204020203" charset="0"/>
              </a:rPr>
              <a:t>T</a:t>
            </a:r>
            <a:r>
              <a:rPr lang="en-US" sz="2400">
                <a:solidFill>
                  <a:schemeClr val="accent4">
                    <a:lumMod val="85000"/>
                    <a:lumOff val="15000"/>
                  </a:schemeClr>
                </a:solidFill>
                <a:latin typeface="Bahnschrift SemiBold" panose="020B0502040204020203" charset="0"/>
                <a:cs typeface="Bahnschrift SemiBold" panose="020B0502040204020203" charset="0"/>
              </a:rPr>
              <a:t>hank you !</a:t>
            </a:r>
            <a:endParaRPr lang="en-US" sz="2400">
              <a:solidFill>
                <a:schemeClr val="accent4">
                  <a:lumMod val="85000"/>
                  <a:lumOff val="15000"/>
                </a:schemeClr>
              </a:solidFill>
              <a:latin typeface="Bahnschrift SemiBold" panose="020B0502040204020203" charset="0"/>
              <a:cs typeface="Bahnschrift SemiBold" panose="020B0502040204020203"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826770" y="1346200"/>
            <a:ext cx="12644120" cy="1191895"/>
          </a:xfrm>
          <a:prstGeom prst="rect">
            <a:avLst/>
          </a:prstGeom>
          <a:noFill/>
        </p:spPr>
        <p:txBody>
          <a:bodyPr wrap="square" rtlCol="0">
            <a:noAutofit/>
          </a:bodyPr>
          <a:p>
            <a:r>
              <a:rPr lang="en-US"/>
              <a:t>                                      </a:t>
            </a:r>
            <a:r>
              <a:rPr lang="en-US" sz="5400">
                <a:ln w="15875"/>
                <a:gradFill>
                  <a:gsLst>
                    <a:gs pos="0">
                      <a:srgbClr val="007BD3"/>
                    </a:gs>
                    <a:gs pos="100000">
                      <a:srgbClr val="034373"/>
                    </a:gs>
                  </a:gsLst>
                  <a:lin scaled="0"/>
                </a:gradFill>
                <a:effectLst/>
              </a:rPr>
              <a:t>T</a:t>
            </a:r>
            <a:r>
              <a:rPr lang="en-US" sz="5400">
                <a:ln w="15875"/>
                <a:gradFill>
                  <a:gsLst>
                    <a:gs pos="0">
                      <a:schemeClr val="accent1"/>
                    </a:gs>
                    <a:gs pos="100000">
                      <a:schemeClr val="accent6"/>
                    </a:gs>
                  </a:gsLst>
                  <a:lin ang="2700000" scaled="0"/>
                </a:gradFill>
                <a:effectLst/>
              </a:rPr>
              <a:t>  h   a   n   k       </a:t>
            </a:r>
            <a:r>
              <a:rPr lang="en-US" sz="5400">
                <a:ln w="15875"/>
                <a:solidFill>
                  <a:srgbClr val="00B0F0"/>
                </a:solidFill>
                <a:effectLst/>
              </a:rPr>
              <a:t>Y  </a:t>
            </a:r>
            <a:r>
              <a:rPr lang="en-US" sz="5400">
                <a:ln w="15875"/>
                <a:gradFill>
                  <a:gsLst>
                    <a:gs pos="0">
                      <a:schemeClr val="accent1"/>
                    </a:gs>
                    <a:gs pos="100000">
                      <a:schemeClr val="accent6"/>
                    </a:gs>
                  </a:gsLst>
                  <a:lin ang="2700000" scaled="0"/>
                </a:gradFill>
                <a:effectLst/>
              </a:rPr>
              <a:t>o  u</a:t>
            </a:r>
            <a:r>
              <a:rPr lang="en-US"/>
              <a:t> </a:t>
            </a:r>
            <a:endParaRPr lang="en-US"/>
          </a:p>
        </p:txBody>
      </p:sp>
      <p:sp>
        <p:nvSpPr>
          <p:cNvPr id="6" name="Text Box 5"/>
          <p:cNvSpPr txBox="1"/>
          <p:nvPr/>
        </p:nvSpPr>
        <p:spPr>
          <a:xfrm>
            <a:off x="2580640" y="3665220"/>
            <a:ext cx="7211060" cy="713105"/>
          </a:xfrm>
          <a:prstGeom prst="rect">
            <a:avLst/>
          </a:prstGeom>
          <a:noFill/>
        </p:spPr>
        <p:txBody>
          <a:bodyPr wrap="square" rtlCol="0">
            <a:noAutofit/>
          </a:bodyPr>
          <a:p>
            <a:r>
              <a:rPr lang="en-US"/>
              <a:t>                                  </a:t>
            </a:r>
            <a:r>
              <a:rPr lang="en-US" sz="2400"/>
              <a:t>Do you have any question </a:t>
            </a:r>
            <a:r>
              <a:rPr lang="en-US" sz="2400">
                <a:solidFill>
                  <a:schemeClr val="accent2"/>
                </a:solidFill>
              </a:rPr>
              <a:t>?</a:t>
            </a:r>
            <a:r>
              <a:rPr lang="en-US">
                <a:solidFill>
                  <a:schemeClr val="accent2"/>
                </a:solidFill>
              </a:rPr>
              <a:t> </a:t>
            </a:r>
            <a:endParaRPr lang="en-US">
              <a:solidFill>
                <a:schemeClr val="accent2"/>
              </a:solidFill>
            </a:endParaRPr>
          </a:p>
        </p:txBody>
      </p:sp>
    </p:spTree>
  </p:cSld>
  <p:clrMapOvr>
    <a:masterClrMapping/>
  </p:clrMapOvr>
</p:sld>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4960</Words>
  <Application>WPS Presentation</Application>
  <PresentationFormat>On-screen Show (16:9)</PresentationFormat>
  <Paragraphs>89</Paragraphs>
  <Slides>13</Slides>
  <Notes>10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13</vt:i4>
      </vt:variant>
    </vt:vector>
  </HeadingPairs>
  <TitlesOfParts>
    <vt:vector size="28" baseType="lpstr">
      <vt:lpstr>Arial</vt:lpstr>
      <vt:lpstr>SimSun</vt:lpstr>
      <vt:lpstr>Wingdings</vt:lpstr>
      <vt:lpstr>Red Hat Text</vt:lpstr>
      <vt:lpstr>Red Hat Text</vt:lpstr>
      <vt:lpstr>Red Hat Text</vt:lpstr>
      <vt:lpstr>Roboto Light</vt:lpstr>
      <vt:lpstr>Roboto Light</vt:lpstr>
      <vt:lpstr>Roboto Light</vt:lpstr>
      <vt:lpstr>Roboto Bold</vt:lpstr>
      <vt:lpstr>Bahnschrift SemiBold</vt:lpstr>
      <vt:lpstr>Microsoft YaHei</vt:lpstr>
      <vt:lpstr>Arial Unicode MS</vt:lpstr>
      <vt:lpstr>Calibri</vt:lpstr>
      <vt:lpstr>Orange Waves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Kuldeep Singh</cp:lastModifiedBy>
  <cp:revision>8</cp:revision>
  <dcterms:created xsi:type="dcterms:W3CDTF">2025-02-11T04:03:00Z</dcterms:created>
  <dcterms:modified xsi:type="dcterms:W3CDTF">2025-02-12T17:43:33Z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EFDBD9D3031F45248F57DC5926589AFE_12</vt:lpwstr>
  </property>
  <property fmtid="{D5CDD505-2E9C-101B-9397-08002B2CF9AE}" pid="3" name="KSOProductBuildVer">
    <vt:lpwstr>1033-12.2.0.19805</vt:lpwstr>
  </property>
</Properties>
</file>